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6" r:id="rId3"/>
    <p:sldId id="267" r:id="rId4"/>
    <p:sldId id="257" r:id="rId5"/>
    <p:sldId id="258" r:id="rId6"/>
    <p:sldId id="268" r:id="rId7"/>
    <p:sldId id="259" r:id="rId8"/>
    <p:sldId id="269" r:id="rId9"/>
    <p:sldId id="260" r:id="rId10"/>
    <p:sldId id="261" r:id="rId11"/>
    <p:sldId id="270" r:id="rId12"/>
    <p:sldId id="271" r:id="rId13"/>
    <p:sldId id="262" r:id="rId14"/>
    <p:sldId id="272" r:id="rId15"/>
    <p:sldId id="273" r:id="rId16"/>
    <p:sldId id="263" r:id="rId17"/>
    <p:sldId id="265" r:id="rId18"/>
  </p:sldIdLst>
  <p:sldSz cx="14630400" cy="8229600"/>
  <p:notesSz cx="8229600" cy="14630400"/>
  <p:embeddedFontLst>
    <p:embeddedFont>
      <p:font typeface="Simplified Arabic" panose="02020603050405020304" pitchFamily="18" charset="-78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7D8A36-0C3B-5A48-3566-F521E83C7A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81F23-A074-A526-C859-CB6BFA141A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68874-E5FE-4EA9-A52D-AEE48671AF3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9CDCB-DF20-5948-B189-53906CF00F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B48AC-8A25-D842-CACA-567E2E82A0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70065-6985-403C-BA36-B7A5143BB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3895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1227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2210" y="157180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تحليل تقييمات الأفلام واكتشاف الاتجاهات الجديدة باستخدام نظام المعطيات الكبيرة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12051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en-US" sz="35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مشروع تخرج لنيل درجة الإجازة في هندسة الشبكات ونظم التشغيل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59462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تقديم:</a:t>
            </a:r>
            <a:r>
              <a:rPr lang="en-US" sz="1750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 امير احمد يوسف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21268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إشراف:</a:t>
            </a:r>
            <a:r>
              <a:rPr lang="en-US" sz="1750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 د. حسين خيو</a:t>
            </a:r>
            <a:endParaRPr lang="en-US" sz="175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CF165FC0-F6AC-25F9-F7F0-6013D6FCD97B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1/10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FECE10-BA5D-4495-6C9E-1AD698A6FB50}"/>
              </a:ext>
            </a:extLst>
          </p:cNvPr>
          <p:cNvSpPr/>
          <p:nvPr/>
        </p:nvSpPr>
        <p:spPr>
          <a:xfrm>
            <a:off x="6837751" y="913882"/>
            <a:ext cx="7556421" cy="123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التحدي: توصيات الأفلام كمسألة بيانات ضخمة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EC14E5-F9DB-6034-4F48-4F4A9AAB1EB2}"/>
              </a:ext>
            </a:extLst>
          </p:cNvPr>
          <p:cNvSpPr/>
          <p:nvPr/>
        </p:nvSpPr>
        <p:spPr>
          <a:xfrm>
            <a:off x="12654495" y="7783550"/>
            <a:ext cx="1926245" cy="370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8DCC7134-0478-16EA-B261-DF35CFC756A0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2/17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C172DBF-FFF4-6067-9CB8-1015295ED6D8}"/>
              </a:ext>
            </a:extLst>
          </p:cNvPr>
          <p:cNvSpPr/>
          <p:nvPr/>
        </p:nvSpPr>
        <p:spPr>
          <a:xfrm>
            <a:off x="7024317" y="2341166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4450"/>
              </a:lnSpc>
              <a:buNone/>
            </a:pP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أنظمة التوصية على نطاق واسع ليست مجرد خوارزميات، بل هي تحديات هندسية في الحوسبة الموزعة.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5E5690E-F43F-D82D-B87B-7B85EEFD3BF9}"/>
              </a:ext>
            </a:extLst>
          </p:cNvPr>
          <p:cNvSpPr/>
          <p:nvPr/>
        </p:nvSpPr>
        <p:spPr>
          <a:xfrm>
            <a:off x="6837751" y="3250571"/>
            <a:ext cx="7556421" cy="4061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r" rtl="1">
              <a:lnSpc>
                <a:spcPts val="4450"/>
              </a:lnSpc>
              <a:buFont typeface="Arial" panose="020B0604020202020204" pitchFamily="34" charset="0"/>
              <a:buChar char="•"/>
            </a:pP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الحجم</a:t>
            </a:r>
            <a:r>
              <a:rPr lang="en-US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:</a:t>
            </a: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ملايين المستخدمين ومليارات التقييمات تتطلب تخزينًا ومعالجة موزعة تتجاوز قدرة خادم واحد.</a:t>
            </a:r>
          </a:p>
          <a:p>
            <a:pPr marL="285750" indent="-285750" algn="r" rtl="1">
              <a:lnSpc>
                <a:spcPts val="4450"/>
              </a:lnSpc>
              <a:buFont typeface="Arial" panose="020B0604020202020204" pitchFamily="34" charset="0"/>
              <a:buChar char="•"/>
            </a:pPr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marL="285750" indent="-285750" algn="r" rtl="1">
              <a:lnSpc>
                <a:spcPts val="4450"/>
              </a:lnSpc>
              <a:buFont typeface="Arial" panose="020B0604020202020204" pitchFamily="34" charset="0"/>
              <a:buChar char="•"/>
            </a:pP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السرعة</a:t>
            </a:r>
            <a:r>
              <a:rPr lang="en-US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: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تفاعلات المستخدمين (نقرات، مشاهدات) تتدفق باستمرار وتتطلب استجابة آنية لا يمكن للمعالجة الدفعية وحدها تحقيقها.</a:t>
            </a:r>
          </a:p>
          <a:p>
            <a:pPr marL="285750" indent="-285750" algn="r" rtl="1">
              <a:lnSpc>
                <a:spcPts val="4450"/>
              </a:lnSpc>
              <a:buFont typeface="Arial" panose="020B0604020202020204" pitchFamily="34" charset="0"/>
              <a:buChar char="•"/>
            </a:pP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التنوع: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البيانات تتنوع بين تقييمات رقمية، بيانات وصفية نصية، وتفاعلات ضمنية، مما يتطلب أنظمة مرنة للمعالجة.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15A2B-5217-DAFE-7DBD-EE440751A090}"/>
              </a:ext>
            </a:extLst>
          </p:cNvPr>
          <p:cNvSpPr txBox="1"/>
          <p:nvPr/>
        </p:nvSpPr>
        <p:spPr>
          <a:xfrm>
            <a:off x="7215358" y="7362968"/>
            <a:ext cx="7365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الهدف ليس فقط بناء نموذج دقيق، بل بناء نظام قادر على العمل تحت هذه الظروف.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765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C1D4A23-CF49-69AE-C2DF-8B598CC6D91D}"/>
              </a:ext>
            </a:extLst>
          </p:cNvPr>
          <p:cNvSpPr/>
          <p:nvPr/>
        </p:nvSpPr>
        <p:spPr>
          <a:xfrm>
            <a:off x="6837751" y="913882"/>
            <a:ext cx="7556421" cy="1236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الهدف الهندسي: نظام هجين، موزع، وقابل للتوسع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5D04D85-F56C-FBBA-66F6-59ACE34707BD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3/17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383925-E51A-9202-6019-FABB9FD6C0A2}"/>
              </a:ext>
            </a:extLst>
          </p:cNvPr>
          <p:cNvSpPr/>
          <p:nvPr/>
        </p:nvSpPr>
        <p:spPr>
          <a:xfrm>
            <a:off x="12654495" y="7783550"/>
            <a:ext cx="1926245" cy="370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2E048A-6203-EE52-312E-9CDF18312AE8}"/>
              </a:ext>
            </a:extLst>
          </p:cNvPr>
          <p:cNvSpPr txBox="1"/>
          <p:nvPr/>
        </p:nvSpPr>
        <p:spPr>
          <a:xfrm>
            <a:off x="7214106" y="2717215"/>
            <a:ext cx="7366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الهدف هو بناء نظام مرن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،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قابل للتوسع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،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وعالي الإتاحة 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يجمع بين أفضل ما في عالمي المعالجة الدفعية واللحظية.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13E12B-D624-4D35-AA7D-996B938EF1E0}"/>
              </a:ext>
            </a:extLst>
          </p:cNvPr>
          <p:cNvSpPr txBox="1"/>
          <p:nvPr/>
        </p:nvSpPr>
        <p:spPr>
          <a:xfrm>
            <a:off x="7214106" y="5058314"/>
            <a:ext cx="73666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الطبقة الدفعية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لمعالجة البيانات المخزنة وبناء نماذج دقيقة وشاملة.</a:t>
            </a:r>
          </a:p>
          <a:p>
            <a:pPr algn="r" rtl="1"/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الطبقة اللحظية لمعالجة التفاعلات الآنية وتوفير استجابة فورية.</a:t>
            </a:r>
          </a:p>
          <a:p>
            <a:pPr algn="r" rtl="1"/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طبقة التقديم لدمج النتائج وتقديمها للمستخدم النهائي.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4BD36C-98D0-B774-9153-AA577C4F7B68}"/>
              </a:ext>
            </a:extLst>
          </p:cNvPr>
          <p:cNvSpPr txBox="1"/>
          <p:nvPr/>
        </p:nvSpPr>
        <p:spPr>
          <a:xfrm>
            <a:off x="7214106" y="4420675"/>
            <a:ext cx="7366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المنهجية المقترحة: بنية هجينة مستوحاة من بنية لامدا</a:t>
            </a:r>
            <a:endParaRPr lang="en-US" b="1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2861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متطلبات النظام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3970734" y="1726644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الهدف الرئيسي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21638" y="2319338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55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تصميم وتنفيذ نظام توصية هجين يدمج بين </a:t>
            </a:r>
            <a:r>
              <a:rPr lang="en-US" b="1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دقة المعالجة الدفعية</a:t>
            </a:r>
            <a:r>
              <a:rPr lang="en-US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 و</a:t>
            </a:r>
            <a:r>
              <a:rPr lang="en-US" b="1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سرعة الاستجابة اللحظية</a:t>
            </a:r>
            <a:r>
              <a:rPr lang="en-US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، لمعالجة تحديات أنظمة التوصية التقليدية مثل تأخر الاستجابة وقابلية التوسع.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70734" y="3515201"/>
            <a:ext cx="3093006" cy="38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الوظائف الأساسية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21638" y="410789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r" rtl="1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الفاعلون:</a:t>
            </a:r>
            <a:r>
              <a:rPr lang="en-US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 المستخدم النهائي، مدير النظام، محلل البيانات.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1638" y="4509968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r" rtl="1">
              <a:lnSpc>
                <a:spcPts val="2550"/>
              </a:lnSpc>
              <a:buSzPct val="100000"/>
              <a:buChar char="•"/>
            </a:pPr>
            <a:r>
              <a:rPr lang="en-US" b="1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الوظائف:</a:t>
            </a:r>
            <a:r>
              <a:rPr lang="en-US" dirty="0">
                <a:solidFill>
                  <a:srgbClr val="52586B"/>
                </a:solidFill>
                <a:latin typeface="Simplified Arabic" panose="02020603050405020304" pitchFamily="18" charset="-78"/>
                <a:ea typeface="Funnel Sans" pitchFamily="34" charset="-122"/>
                <a:cs typeface="Simplified Arabic" panose="02020603050405020304" pitchFamily="18" charset="-78"/>
              </a:rPr>
              <a:t> تدريب النموذج، معالجة التفاعلات اللحظية، وتقديم التوصيات والتحليلات.</a:t>
            </a:r>
            <a:endParaRPr lang="en-US" dirty="0"/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346C9107-8FD0-8DCB-A589-0F55DBB9A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3662" y="1452403"/>
            <a:ext cx="6342101" cy="56286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A2758F9-EEFF-8791-5763-74469D0DCE90}"/>
              </a:ext>
            </a:extLst>
          </p:cNvPr>
          <p:cNvSpPr/>
          <p:nvPr/>
        </p:nvSpPr>
        <p:spPr>
          <a:xfrm>
            <a:off x="12654495" y="7783550"/>
            <a:ext cx="1926245" cy="370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A9FAD4FD-260D-D1D3-ADFA-039AAD117B6E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4/17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50625" y="533217"/>
            <a:ext cx="108877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البنية الهندسية للنظام (System Architecture)</a:t>
            </a:r>
            <a:endParaRPr lang="en-US" sz="4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94DF9-EB9F-31B0-B8C8-3587E79E3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9077"/>
            <a:ext cx="14630400" cy="6970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63707-C0DF-D448-9A41-CD50109E09E9}"/>
              </a:ext>
            </a:extLst>
          </p:cNvPr>
          <p:cNvSpPr/>
          <p:nvPr/>
        </p:nvSpPr>
        <p:spPr>
          <a:xfrm>
            <a:off x="12654495" y="7783550"/>
            <a:ext cx="1926245" cy="370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8A7F238E-0058-1256-81FA-5EF86088FCA5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A4401BE-F1BF-E82D-3969-B12BEAB94A38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فلسفة التصميم (1): لماذا الخدمات المصغرة؟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92172F-1AA5-1004-26DC-34F8E5DE36C2}"/>
              </a:ext>
            </a:extLst>
          </p:cNvPr>
          <p:cNvSpPr txBox="1"/>
          <p:nvPr/>
        </p:nvSpPr>
        <p:spPr>
          <a:xfrm>
            <a:off x="6733284" y="1924696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التوسع المستقل</a:t>
            </a:r>
            <a:endParaRPr lang="en-US" b="1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endParaRPr lang="ar-SY" b="1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يمكننا زيادة موارد خدمة المعالجة اللحظية تحت الضغط دون التأثير على خدمة المعالجة الدفعية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7965B-91AB-85A3-7F45-A1CFE2074724}"/>
              </a:ext>
            </a:extLst>
          </p:cNvPr>
          <p:cNvSpPr txBox="1"/>
          <p:nvPr/>
        </p:nvSpPr>
        <p:spPr>
          <a:xfrm>
            <a:off x="6733284" y="3561380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المرونة التقنية</a:t>
            </a:r>
            <a:endParaRPr lang="en-US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endParaRPr lang="ar-SY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تم اختيار الأداة الأنسب لكل وظيفة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(Spark)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للمعالجة الدفعية،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(Flink)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للتدفق،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(Spring Boot)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0" i="0" dirty="0" err="1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لل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ـ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3FDA5-BEC9-AFF3-2205-E74F72049BEF}"/>
              </a:ext>
            </a:extLst>
          </p:cNvPr>
          <p:cNvSpPr txBox="1"/>
          <p:nvPr/>
        </p:nvSpPr>
        <p:spPr>
          <a:xfrm>
            <a:off x="6733284" y="5463726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النشر المستقل </a:t>
            </a:r>
            <a:r>
              <a:rPr lang="en-US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CI/CD</a:t>
            </a:r>
          </a:p>
          <a:p>
            <a:pPr algn="r" rtl="1">
              <a:buNone/>
            </a:pPr>
            <a:endParaRPr lang="en-US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يمكن تحديث خدمة واحدة دون الحاجة إلى إعادة بناء أو نشر النظام بأكمله.</a:t>
            </a:r>
          </a:p>
        </p:txBody>
      </p:sp>
      <p:pic>
        <p:nvPicPr>
          <p:cNvPr id="13" name="Picture 12" descr="A diagram of a person with text&#10;&#10;AI-generated content may be incorrect.">
            <a:extLst>
              <a:ext uri="{FF2B5EF4-FFF2-40B4-BE49-F238E27FC236}">
                <a16:creationId xmlns:a16="http://schemas.microsoft.com/office/drawing/2014/main" id="{8CBED570-E744-4C57-3B06-387479E9D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738" y="1211342"/>
            <a:ext cx="5440680" cy="5554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213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0815450-B579-4574-6F30-533D025CB6AE}"/>
              </a:ext>
            </a:extLst>
          </p:cNvPr>
          <p:cNvSpPr/>
          <p:nvPr/>
        </p:nvSpPr>
        <p:spPr>
          <a:xfrm>
            <a:off x="12654495" y="7761248"/>
            <a:ext cx="1926245" cy="3930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8D4A437-2643-01C1-C27D-641AFEE9D1A6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7/17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66A89A49-F839-BB78-0AC6-3D8A939130B4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فلسفة التصميم (2): لماذا البنية السداسية؟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F3D873-F124-FF39-E5E9-7C09D6F6F1BD}"/>
              </a:ext>
            </a:extLst>
          </p:cNvPr>
          <p:cNvSpPr txBox="1"/>
          <p:nvPr/>
        </p:nvSpPr>
        <p:spPr>
          <a:xfrm>
            <a:off x="6733284" y="139466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لعزل **"ماذا يفعل النظام"** عن **"كيف يفعله"** وتعزيز قابلية الاختبار.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EC3E2A-792E-6BBA-D78F-B61F57076656}"/>
              </a:ext>
            </a:extLst>
          </p:cNvPr>
          <p:cNvSpPr txBox="1"/>
          <p:nvPr/>
        </p:nvSpPr>
        <p:spPr>
          <a:xfrm>
            <a:off x="6733284" y="2546784"/>
            <a:ext cx="7315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النواة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 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تحتوي على منطق العمل النقي والعقود التي تعرف كيفية التعامل مع منطق العمل.</a:t>
            </a:r>
            <a:endParaRPr lang="en-US" b="0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endParaRPr lang="ar-SY" b="0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endParaRPr lang="en-US" dirty="0">
              <a:solidFill>
                <a:srgbClr val="1F2937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المحولات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هي تطبيقات للتفاصيل التقنية ( تنجيز للعقود).</a:t>
            </a:r>
            <a:endParaRPr lang="en-US" b="0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endParaRPr lang="ar-SY" dirty="0">
              <a:solidFill>
                <a:srgbClr val="1F2937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</a:p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الفائدة: يمكننا اختبار منطق العمل بالكامل دون الحاجة إلى تشغيل </a:t>
            </a:r>
            <a:r>
              <a:rPr lang="en-US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Spark</a:t>
            </a: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أو قاعدة بيانات حقيقية.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13ABF9F-6CF9-FD02-8FE5-96E2010BB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49" y="1211342"/>
            <a:ext cx="6748472" cy="53121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8D6DD1-19AD-6A0D-E9D0-112AD15EB84E}"/>
              </a:ext>
            </a:extLst>
          </p:cNvPr>
          <p:cNvSpPr/>
          <p:nvPr/>
        </p:nvSpPr>
        <p:spPr>
          <a:xfrm>
            <a:off x="12654495" y="7761248"/>
            <a:ext cx="1926245" cy="3930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620A9C0-38DC-92A6-2EEA-35E8E0733D20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المنصة السحابية: لماذا </a:t>
            </a:r>
            <a:r>
              <a:rPr lang="en-US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GCP؟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F64AA-E58C-1D63-5698-A377FB49E95D}"/>
              </a:ext>
            </a:extLst>
          </p:cNvPr>
          <p:cNvSpPr txBox="1"/>
          <p:nvPr/>
        </p:nvSpPr>
        <p:spPr>
          <a:xfrm>
            <a:off x="7092176" y="1583694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Google Dataproc (Spark/Flink)</a:t>
            </a:r>
          </a:p>
          <a:p>
            <a:pPr algn="r" rtl="1"/>
            <a:endParaRPr lang="en-US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لماذا؟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 خدمة مُدارة بالكامل تزيل عبء إدارة عناقيد الحوسبة الموزعة وتوفر كفاءة عالية في التكلفة.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66BB38-BD7B-811E-1BA4-F68FA6F87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410" y="2908496"/>
            <a:ext cx="6898568" cy="4094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17A9D2-C3A3-01FB-5D95-37C0ADFDDF31}"/>
              </a:ext>
            </a:extLst>
          </p:cNvPr>
          <p:cNvSpPr txBox="1"/>
          <p:nvPr/>
        </p:nvSpPr>
        <p:spPr>
          <a:xfrm>
            <a:off x="-327102" y="1557895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Google Kubernetes Engine (GKE)</a:t>
            </a:r>
          </a:p>
          <a:p>
            <a:pPr algn="r"/>
            <a:endParaRPr lang="en-US" b="1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لماذا؟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 لتنسيق ونشر الخدمات المصغرة. يوفر 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GKE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التوسع التلقائي والتعافي من الأخطاء بشكل مؤتمت.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94C206-442A-31FB-81E3-811638395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2" y="2758224"/>
            <a:ext cx="7114478" cy="4701942"/>
          </a:xfrm>
          <a:prstGeom prst="rect">
            <a:avLst/>
          </a:prstGeom>
        </p:spPr>
      </p:pic>
      <p:sp>
        <p:nvSpPr>
          <p:cNvPr id="10" name="Text 10">
            <a:extLst>
              <a:ext uri="{FF2B5EF4-FFF2-40B4-BE49-F238E27FC236}">
                <a16:creationId xmlns:a16="http://schemas.microsoft.com/office/drawing/2014/main" id="{49E14391-4B21-333B-218A-E81740D8DCB1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8/17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7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7FB5913-AB81-170D-0926-412E74ADA510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605405C3-AC43-8B15-6AD0-250017CF8810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التنفيذ: خط أنابيب المعالجة الدفعية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00D28E-BDD3-D01A-885C-92DA8F1D278A}"/>
              </a:ext>
            </a:extLst>
          </p:cNvPr>
          <p:cNvSpPr txBox="1"/>
          <p:nvPr/>
        </p:nvSpPr>
        <p:spPr>
          <a:xfrm>
            <a:off x="6757639" y="1450539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endParaRPr lang="ar-SY" dirty="0"/>
          </a:p>
          <a:p>
            <a:pPr algn="r" rtl="1"/>
            <a:r>
              <a:rPr lang="ar-SY" dirty="0"/>
              <a:t>تم بناء المهمة كخط أنابيب </a:t>
            </a:r>
            <a:r>
              <a:rPr lang="en-US" dirty="0"/>
              <a:t> </a:t>
            </a:r>
            <a:r>
              <a:rPr lang="ar-SY" dirty="0"/>
              <a:t>باستخدام نمط تصميم المرشح </a:t>
            </a:r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7D132D-8E28-16DA-B691-08FC8876A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76" y="2241197"/>
            <a:ext cx="13013473" cy="4921087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5B7669FE-91E6-F05B-073D-9F3B5DB7C593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9/17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6EC0C2A6-813F-C2D1-C690-CC7DD0A2523E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التنفيذ: طريقة معالجة التدفق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6A8ECD-0AF8-7929-B0DC-D22AE35DC4E6}"/>
              </a:ext>
            </a:extLst>
          </p:cNvPr>
          <p:cNvSpPr txBox="1"/>
          <p:nvPr/>
        </p:nvSpPr>
        <p:spPr>
          <a:xfrm>
            <a:off x="6593562" y="149916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تم بناء المهمة لمعالجة الأحداث فور وصولها.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5227D7-1EAC-C075-4414-3B4F84DE3F29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9F731CCB-8BE1-44B0-FCC9-0124AE783EC0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10/17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Picture 36" descr="A diagram of a consumer event&#10;&#10;AI-generated content may be incorrect.">
            <a:extLst>
              <a:ext uri="{FF2B5EF4-FFF2-40B4-BE49-F238E27FC236}">
                <a16:creationId xmlns:a16="http://schemas.microsoft.com/office/drawing/2014/main" id="{329992FC-4E77-734B-CD14-AE49C6F13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147" y="2841142"/>
            <a:ext cx="11797990" cy="350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998F80-BC6F-B3AF-4D00-7001251B2359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التنفيذ: أتمتة النشر</a:t>
            </a:r>
            <a:r>
              <a:rPr lang="en-US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CI/CD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37212-5AA3-C16D-7753-AC8DBD893FB7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9FE57-2BAD-3071-489F-90F45A2D79BB}"/>
              </a:ext>
            </a:extLst>
          </p:cNvPr>
          <p:cNvSpPr txBox="1"/>
          <p:nvPr/>
        </p:nvSpPr>
        <p:spPr>
          <a:xfrm>
            <a:off x="6779942" y="153752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تم بناء خط أنابيب تكامل ونشر مستمر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لأتمتة دورة حياة التطوير.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83AFA05B-163F-BA2A-860C-F5C1AF59B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717" y="2233041"/>
            <a:ext cx="11444983" cy="47985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C280231E-6C1D-4737-F022-8A5B6F7803E2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11/17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66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9774DA-2CFE-38E4-45CF-9DBFAEC46D46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منهجية الاختبارات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7A045A-05B7-B0D9-5EB2-75940D589115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46ACB7BF-E025-B551-13D0-38A4C9E818D6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12/17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B540CD-7E0D-7F19-D184-2AA99419A369}"/>
              </a:ext>
            </a:extLst>
          </p:cNvPr>
          <p:cNvSpPr txBox="1"/>
          <p:nvPr/>
        </p:nvSpPr>
        <p:spPr>
          <a:xfrm>
            <a:off x="6593562" y="1455224"/>
            <a:ext cx="74549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تم اتباع استراتيجية اختبار متعددة المستويات لضمان جودة النظام:</a:t>
            </a:r>
          </a:p>
          <a:p>
            <a:pPr algn="r" rtl="1"/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اختبار الوحدات للتحقق من صحة منطق العمل المعزول داخل كل خدمة.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اختبار الأداء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:</a:t>
            </a:r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اختبار الحمل والضغط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: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باستخدام أداة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k6 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اختبار قابلية التوسع 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: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على عناقيد  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Dataproc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مختلفة.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C660D0-AF4E-77C5-F995-950F1A039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10896"/>
            <a:ext cx="8474928" cy="59090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327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29FB7AC-2738-97BA-88C8-3B8C23D85A64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1B74B048-4076-D887-3A43-12E37A12C8B7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نتائج الأداء: متانة خدمات </a:t>
            </a:r>
            <a:r>
              <a:rPr lang="en-US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API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9E543F-6FE4-527D-C358-1BAC2B8DC5B6}"/>
              </a:ext>
            </a:extLst>
          </p:cNvPr>
          <p:cNvSpPr txBox="1"/>
          <p:nvPr/>
        </p:nvSpPr>
        <p:spPr>
          <a:xfrm>
            <a:off x="6733284" y="142279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اختبار الحمل (100 مستخدم)</a:t>
            </a:r>
            <a:endParaRPr lang="en-US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endParaRPr lang="ar-SY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النتيجة: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 نجاح 100% بزمن استجابة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P(95)</a:t>
            </a:r>
            <a:r>
              <a:rPr lang="ar-SY" dirty="0">
                <a:solidFill>
                  <a:srgbClr val="1F2937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يبلغ </a:t>
            </a: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703 ميلي ثانية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2DD1710-AF22-A5AC-4C21-96AD43AE4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284" y="2557582"/>
            <a:ext cx="7569694" cy="559672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D0EEE16-48E9-5252-4FB1-4B4F7DEBC50B}"/>
              </a:ext>
            </a:extLst>
          </p:cNvPr>
          <p:cNvSpPr txBox="1"/>
          <p:nvPr/>
        </p:nvSpPr>
        <p:spPr>
          <a:xfrm>
            <a:off x="-956952" y="142279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اختبار الضغط (300 مستخدم)</a:t>
            </a:r>
            <a:endParaRPr lang="en-US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buNone/>
            </a:pPr>
            <a:endParaRPr lang="ar-SY" b="1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النتيجة: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 نجاح ~97% بزمن استجابة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P(95)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يبلغ </a:t>
            </a: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676 ميلي ثانية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.</a:t>
            </a:r>
          </a:p>
        </p:txBody>
      </p:sp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991B94-84F6-C06D-4879-E19F5D22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3635" y="2557582"/>
            <a:ext cx="6971441" cy="55967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B60116-83D5-720D-3257-C9E8CCA55085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نتائج الأداء: قابلية توسع الطبقة الدفعية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D8621-300C-5A83-F04C-40A11802A464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CC491A10-CE26-155C-DABB-61458E739BB6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14/17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5E1CB9-9A29-F88A-8876-D66CE59AD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61799"/>
              </p:ext>
            </p:extLst>
          </p:nvPr>
        </p:nvGraphicFramePr>
        <p:xfrm>
          <a:off x="1006476" y="1839951"/>
          <a:ext cx="12617448" cy="3969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4362">
                  <a:extLst>
                    <a:ext uri="{9D8B030D-6E8A-4147-A177-3AD203B41FA5}">
                      <a16:colId xmlns:a16="http://schemas.microsoft.com/office/drawing/2014/main" val="1862746474"/>
                    </a:ext>
                  </a:extLst>
                </a:gridCol>
                <a:gridCol w="3154362">
                  <a:extLst>
                    <a:ext uri="{9D8B030D-6E8A-4147-A177-3AD203B41FA5}">
                      <a16:colId xmlns:a16="http://schemas.microsoft.com/office/drawing/2014/main" val="506550034"/>
                    </a:ext>
                  </a:extLst>
                </a:gridCol>
                <a:gridCol w="3154362">
                  <a:extLst>
                    <a:ext uri="{9D8B030D-6E8A-4147-A177-3AD203B41FA5}">
                      <a16:colId xmlns:a16="http://schemas.microsoft.com/office/drawing/2014/main" val="1252522905"/>
                    </a:ext>
                  </a:extLst>
                </a:gridCol>
                <a:gridCol w="3154362">
                  <a:extLst>
                    <a:ext uri="{9D8B030D-6E8A-4147-A177-3AD203B41FA5}">
                      <a16:colId xmlns:a16="http://schemas.microsoft.com/office/drawing/2014/main" val="2689297807"/>
                    </a:ext>
                  </a:extLst>
                </a:gridCol>
              </a:tblGrid>
              <a:tr h="99245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>
                          <a:effectLst/>
                        </a:rPr>
                        <a:t>التكوين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 dirty="0">
                          <a:effectLst/>
                        </a:rPr>
                        <a:t>الموارد الحسابية </a:t>
                      </a:r>
                      <a:r>
                        <a:rPr lang="en-US" sz="1200" kern="100" dirty="0">
                          <a:effectLst/>
                        </a:rPr>
                        <a:t>(Workers)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 dirty="0">
                          <a:effectLst/>
                        </a:rPr>
                        <a:t>زمن التنفيذ</a:t>
                      </a:r>
                      <a:r>
                        <a:rPr lang="en-US" sz="1200" kern="100" dirty="0">
                          <a:effectLst/>
                        </a:rPr>
                        <a:t>      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>
                          <a:effectLst/>
                        </a:rPr>
                        <a:t>متوسط استخدام المعالج</a:t>
                      </a:r>
                      <a:r>
                        <a:rPr lang="en-US" sz="1200" kern="100">
                          <a:effectLst/>
                        </a:rPr>
                        <a:t>     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8572"/>
                  </a:ext>
                </a:extLst>
              </a:tr>
              <a:tr h="99245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 dirty="0">
                          <a:effectLst/>
                        </a:rPr>
                        <a:t>عقدة واحدة</a:t>
                      </a:r>
                      <a:r>
                        <a:rPr lang="en-US" sz="1200" kern="100" dirty="0">
                          <a:effectLst/>
                        </a:rPr>
                        <a:t> (Master Only)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8 vCPU, 32 GB RAM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~15 </a:t>
                      </a:r>
                      <a:r>
                        <a:rPr lang="ar-SA" sz="1500" kern="100">
                          <a:effectLst/>
                        </a:rPr>
                        <a:t>دقيقة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~62%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5632579"/>
                  </a:ext>
                </a:extLst>
              </a:tr>
              <a:tr h="99245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 dirty="0">
                          <a:effectLst/>
                        </a:rPr>
                        <a:t>عقدتان عاملتان</a:t>
                      </a:r>
                      <a:r>
                        <a:rPr lang="en-US" sz="1200" kern="100" dirty="0">
                          <a:effectLst/>
                        </a:rPr>
                        <a:t> (2 Workers)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4 vCPU, 16 GB RAM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~18 </a:t>
                      </a:r>
                      <a:r>
                        <a:rPr lang="ar-SA" sz="1500" kern="100">
                          <a:effectLst/>
                        </a:rPr>
                        <a:t>دقيقة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~53%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9643906"/>
                  </a:ext>
                </a:extLst>
              </a:tr>
              <a:tr h="992458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 dirty="0">
                          <a:effectLst/>
                        </a:rPr>
                        <a:t>ثلاث عقد عاملة</a:t>
                      </a:r>
                      <a:r>
                        <a:rPr lang="en-US" sz="1200" kern="100" dirty="0">
                          <a:effectLst/>
                        </a:rPr>
                        <a:t> (3 Workers)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6 vCPU, 24 GB RAM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~17 </a:t>
                      </a:r>
                      <a:r>
                        <a:rPr lang="ar-SA" sz="1500" kern="100">
                          <a:effectLst/>
                        </a:rPr>
                        <a:t>دقيقة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~38%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352839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1434C9-C36D-F45B-178A-6F737880B435}"/>
              </a:ext>
            </a:extLst>
          </p:cNvPr>
          <p:cNvSpPr txBox="1"/>
          <p:nvPr/>
        </p:nvSpPr>
        <p:spPr>
          <a:xfrm>
            <a:off x="6302417" y="630066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التوسع العمودي (عقدة واحدة قوية) كان الأسرع، مما يثبت أنه الخيار الأكفأ للأحمال المعتدلة لأنه يتجنب التكاليف العامة للتوزيع.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0713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1F7E9E-FD9E-E26B-F832-D09A8131C4C5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3AE8B08-55B9-B445-1D28-AAF1E472336B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تحليل الأداء: كفاءة التوازي في </a:t>
            </a:r>
            <a:r>
              <a:rPr lang="en-US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Spark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EF52B-BEFD-42D7-445B-7D27D05A77B8}"/>
              </a:ext>
            </a:extLst>
          </p:cNvPr>
          <p:cNvSpPr txBox="1"/>
          <p:nvPr/>
        </p:nvSpPr>
        <p:spPr>
          <a:xfrm>
            <a:off x="2978916" y="1469279"/>
            <a:ext cx="8285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لماذا انخفض متوسط استخدام المعالج في عنقود الـ 3 عقد؟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085B5-BC30-FA51-B518-14AA278B5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688" y="1998890"/>
            <a:ext cx="6874727" cy="494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96A8AD-7A78-1246-5160-6C2632B93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39" y="1998890"/>
            <a:ext cx="6556917" cy="510944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E565AD-89ED-C678-C4D9-9E8CD9018524}"/>
              </a:ext>
            </a:extLst>
          </p:cNvPr>
          <p:cNvSpPr txBox="1"/>
          <p:nvPr/>
        </p:nvSpPr>
        <p:spPr>
          <a:xfrm>
            <a:off x="6763214" y="7200959"/>
            <a:ext cx="7666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مع زيادة عدد العقد لنفس حجم العمل، تزداد </a:t>
            </a: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التكلفة العامة للتنسيق وخلط البيانات عبر الشبكة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. ونتيجة لذلك، تقضي أنوية المعالج فترات أطول في حالة انتظار، مما يؤدي إلى انخفاض </a:t>
            </a: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متوسط كفاءة التوازي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.</a:t>
            </a:r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61F6BED-0675-A92A-679B-DCACE9E10B5B}"/>
              </a:ext>
            </a:extLst>
          </p:cNvPr>
          <p:cNvSpPr/>
          <p:nvPr/>
        </p:nvSpPr>
        <p:spPr>
          <a:xfrm>
            <a:off x="1005663" y="72199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DM Sans" pitchFamily="34" charset="-122"/>
                <a:cs typeface="Arial" panose="020B0604020202020204" pitchFamily="34" charset="0"/>
              </a:rPr>
              <a:t>15/17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249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D4E4322A-6347-B209-E839-EC6A5CA59354}"/>
              </a:ext>
            </a:extLst>
          </p:cNvPr>
          <p:cNvSpPr/>
          <p:nvPr/>
        </p:nvSpPr>
        <p:spPr>
          <a:xfrm>
            <a:off x="8753594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نتائج الأداء: اختناق الأداء في الطبقة اللحظية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ECCC44-AA9D-D6E9-665E-4CEB470303D5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B7F4F-8E64-0D70-90B8-F27AC063FC80}"/>
              </a:ext>
            </a:extLst>
          </p:cNvPr>
          <p:cNvSpPr txBox="1"/>
          <p:nvPr/>
        </p:nvSpPr>
        <p:spPr>
          <a:xfrm>
            <a:off x="6870690" y="1696320"/>
            <a:ext cx="7315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السيناريو: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 اختبار ضغط بـ 250 مستخدما</a:t>
            </a:r>
            <a:r>
              <a:rPr lang="ar-SY" dirty="0">
                <a:solidFill>
                  <a:srgbClr val="1F2937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ً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متزامناً على عنقود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Dataproc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بعقدة واحدة.</a:t>
            </a:r>
          </a:p>
          <a:p>
            <a:pPr algn="r" rtl="1">
              <a:buNone/>
            </a:pPr>
            <a:endParaRPr lang="ar-SY" b="0" i="0" dirty="0">
              <a:solidFill>
                <a:srgbClr val="1F2937"/>
              </a:solidFill>
              <a:effectLst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>
              <a:spcBef>
                <a:spcPts val="1200"/>
              </a:spcBef>
            </a:pPr>
            <a:r>
              <a:rPr lang="ar-SY" b="1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النتيجة: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 زمن تأخر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P(95)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وصل إلى </a:t>
            </a:r>
            <a:r>
              <a:rPr lang="ar-SY" b="1" i="0" dirty="0"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13 ثانية</a:t>
            </a:r>
            <a:r>
              <a:rPr lang="ar-SY" b="0" i="0" dirty="0">
                <a:solidFill>
                  <a:srgbClr val="1F2937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، وهو زمن مرتفع جداً.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B10846-AD04-CAD4-9C55-D4DDF129E886}"/>
              </a:ext>
            </a:extLst>
          </p:cNvPr>
          <p:cNvSpPr txBox="1"/>
          <p:nvPr/>
        </p:nvSpPr>
        <p:spPr>
          <a:xfrm>
            <a:off x="6748026" y="2935350"/>
            <a:ext cx="7560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النتيجة لا تعكس فشلاً في منطق </a:t>
            </a:r>
            <a:r>
              <a:rPr lang="en-US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Flink، </a:t>
            </a: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بل تؤكد أن تطبيقات التدفق الحقيقية تتطلب بنية تحتية موزعة عدة </a:t>
            </a:r>
            <a:r>
              <a:rPr lang="en-US" b="1" dirty="0" err="1">
                <a:latin typeface="Simplified Arabic" panose="02020603050405020304" pitchFamily="18" charset="-78"/>
                <a:cs typeface="Simplified Arabic" panose="02020603050405020304" pitchFamily="18" charset="-78"/>
              </a:rPr>
              <a:t>TaskManagers</a:t>
            </a: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لتوزيع حمل عمليات </a:t>
            </a:r>
            <a:r>
              <a:rPr lang="en-US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I/O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1753D69-77D9-8A84-B072-B3AE6E4A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0" y="3642024"/>
            <a:ext cx="14580740" cy="45122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0D60042B-695F-D281-0684-BD3951CDDF78}"/>
              </a:ext>
            </a:extLst>
          </p:cNvPr>
          <p:cNvSpPr/>
          <p:nvPr/>
        </p:nvSpPr>
        <p:spPr>
          <a:xfrm>
            <a:off x="4737616" y="889159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 rtl="1">
              <a:lnSpc>
                <a:spcPts val="5050"/>
              </a:lnSpc>
              <a:buNone/>
            </a:pPr>
            <a:r>
              <a:rPr lang="ar-SY" sz="4450" dirty="0">
                <a:solidFill>
                  <a:srgbClr val="373B48"/>
                </a:solidFill>
                <a:latin typeface="Simplified Arabic" panose="02020603050405020304" pitchFamily="18" charset="-78"/>
                <a:ea typeface="Mona Sans Semi Bold" pitchFamily="34" charset="-122"/>
                <a:cs typeface="Simplified Arabic" panose="02020603050405020304" pitchFamily="18" charset="-78"/>
              </a:rPr>
              <a:t>الآفاق المستقبلية والأسئلة</a:t>
            </a:r>
            <a:endParaRPr lang="en-US" sz="4450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838CF-3D70-45B3-7E3B-E934EAA14CB7}"/>
              </a:ext>
            </a:extLst>
          </p:cNvPr>
          <p:cNvSpPr/>
          <p:nvPr/>
        </p:nvSpPr>
        <p:spPr>
          <a:xfrm>
            <a:off x="12654495" y="7727156"/>
            <a:ext cx="1926245" cy="427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2C6F81-C17E-AABF-B3A6-EA5F58D29152}"/>
              </a:ext>
            </a:extLst>
          </p:cNvPr>
          <p:cNvSpPr txBox="1"/>
          <p:nvPr/>
        </p:nvSpPr>
        <p:spPr>
          <a:xfrm>
            <a:off x="6302417" y="2471106"/>
            <a:ext cx="731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تحسين أداء الطبقة اللحظية عبر نشر </a:t>
            </a:r>
            <a:r>
              <a:rPr lang="en-US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Flink</a:t>
            </a: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en-US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على عنقود موزع.</a:t>
            </a:r>
          </a:p>
          <a:p>
            <a:pPr algn="r" rtl="1"/>
            <a:endParaRPr lang="ar-SY" b="1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endParaRPr lang="ar-SY" b="1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dirty="0">
                <a:latin typeface="Simplified Arabic" panose="02020603050405020304" pitchFamily="18" charset="-78"/>
                <a:cs typeface="Simplified Arabic" panose="02020603050405020304" pitchFamily="18" charset="-78"/>
              </a:rPr>
              <a:t>استكشاف نماذج التعلم العميق لزيادة دقة التوصيات.</a:t>
            </a:r>
          </a:p>
          <a:p>
            <a:pPr algn="r" rtl="1"/>
            <a:endParaRPr lang="ar-SY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48878-5FFA-6246-3120-AEC9713B56AC}"/>
              </a:ext>
            </a:extLst>
          </p:cNvPr>
          <p:cNvSpPr txBox="1"/>
          <p:nvPr/>
        </p:nvSpPr>
        <p:spPr>
          <a:xfrm>
            <a:off x="3657600" y="5283797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Y" sz="2400" b="1" i="0" dirty="0">
                <a:solidFill>
                  <a:srgbClr val="374151"/>
                </a:solidFill>
                <a:effectLst/>
                <a:latin typeface="Simplified Arabic" panose="02020603050405020304" pitchFamily="18" charset="-78"/>
                <a:cs typeface="Simplified Arabic" panose="02020603050405020304" pitchFamily="18" charset="-78"/>
              </a:rPr>
              <a:t>شكراً لحسن استماعكم، هل هناك أي أسئلة؟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858</Words>
  <Application>Microsoft Office PowerPoint</Application>
  <PresentationFormat>Custom</PresentationFormat>
  <Paragraphs>132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Arial</vt:lpstr>
      <vt:lpstr>Simplified Arabic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Amir Youssef</cp:lastModifiedBy>
  <cp:revision>128</cp:revision>
  <dcterms:created xsi:type="dcterms:W3CDTF">2025-07-30T13:03:44Z</dcterms:created>
  <dcterms:modified xsi:type="dcterms:W3CDTF">2025-08-03T22:40:17Z</dcterms:modified>
</cp:coreProperties>
</file>